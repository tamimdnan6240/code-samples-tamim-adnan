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37"/>
  </p:notesMasterIdLst>
  <p:sldIdLst>
    <p:sldId id="256" r:id="rId3"/>
    <p:sldId id="29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9144000"/>
  <p:embeddedFontLst>
    <p:embeddedFont>
      <p:font typeface="ADLaM Display" panose="02010000000000000000" pitchFamily="2" charset="0"/>
      <p:regular r:id="rId38"/>
    </p:embeddedFont>
    <p:embeddedFont>
      <p:font typeface="Play" panose="020B0604020202020204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hvXaQupUVlyYZM474dAzgkoc8y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DE47B7-AA9A-41DE-BB12-4CB6514FBF18}">
  <a:tblStyle styleId="{1FDE47B7-AA9A-41DE-BB12-4CB6514FBF1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E6E6E6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6E6E6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Arial"/>
          <a:ea typeface="Arial"/>
          <a:cs typeface="Arial"/>
        </a:font>
        <a:schemeClr val="dk1"/>
      </a:tcTxStyle>
      <a:tcStyle>
        <a:tcBdr/>
      </a:tcStyle>
    </a:seCell>
    <a:swCell>
      <a:tcTxStyle b="on" i="off">
        <a:font>
          <a:latin typeface="Arial"/>
          <a:ea typeface="Arial"/>
          <a:cs typeface="Arial"/>
        </a:font>
        <a:schemeClr val="dk1"/>
      </a:tcTxStyle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3C0DF57-0272-45ED-A551-4EA5B7DE391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A5AC634-E149-4D6B-A256-238546252162}" styleName="Table_2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418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viewProps" Target="viewProps.xml"/><Relationship Id="rId20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16F670-BD0C-47D9-9D9B-F3EC163A8B2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9FD55C-A4B4-4500-9E26-27DFB87A50B7}">
      <dgm:prSet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sz="1600" b="0" i="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Investigating combined effects of the socioeconomic features with </a:t>
          </a:r>
          <a:r>
            <a:rPr lang="en-US" sz="1600" b="0" i="0" dirty="0">
              <a:solidFill>
                <a:schemeClr val="accent5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Explainable Artificial Intelligence (XAI)  </a:t>
          </a:r>
          <a:endParaRPr lang="en-US" sz="1600" dirty="0">
            <a:solidFill>
              <a:schemeClr val="accent5"/>
            </a:solidFill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C3D97FD7-BE86-421F-86AF-0686BFB05107}" type="parTrans" cxnId="{BBA238B1-8A66-45FD-AE39-9EAA959A0099}">
      <dgm:prSet/>
      <dgm:spPr/>
      <dgm:t>
        <a:bodyPr/>
        <a:lstStyle/>
        <a:p>
          <a:endParaRPr lang="en-US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B8FE51CD-28B5-4F23-9512-80B795FEC3CB}" type="sibTrans" cxnId="{BBA238B1-8A66-45FD-AE39-9EAA959A0099}">
      <dgm:prSet/>
      <dgm:spPr/>
      <dgm:t>
        <a:bodyPr/>
        <a:lstStyle/>
        <a:p>
          <a:endParaRPr lang="en-US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D6427639-2522-430E-98FC-7F0E797A862D}">
      <dgm:prSet custT="1"/>
      <dgm:spPr>
        <a:solidFill>
          <a:srgbClr val="7030A0"/>
        </a:solidFill>
      </dgm:spPr>
      <dgm:t>
        <a:bodyPr/>
        <a:lstStyle/>
        <a:p>
          <a:pPr algn="ctr"/>
          <a:r>
            <a:rPr lang="en-US" sz="1600" b="0" i="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Including socioeconomic index such as </a:t>
          </a:r>
          <a:br>
            <a:rPr lang="en-US" sz="1600" b="0" i="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</a:br>
          <a:r>
            <a:rPr lang="en-US" sz="1600" b="0" i="0" dirty="0">
              <a:solidFill>
                <a:srgbClr val="FFFF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Different age groups, income levels, educational attainments  </a:t>
          </a:r>
          <a:endParaRPr lang="en-US" sz="1600" dirty="0">
            <a:solidFill>
              <a:srgbClr val="FFFF00"/>
            </a:solidFill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A93EAED8-E2FD-4F46-848D-8C7FCCBE94F4}" type="parTrans" cxnId="{AA2E87AA-4AC1-43C4-B591-5A6FE1C005A2}">
      <dgm:prSet/>
      <dgm:spPr/>
      <dgm:t>
        <a:bodyPr/>
        <a:lstStyle/>
        <a:p>
          <a:endParaRPr lang="en-US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A2A85EBE-04D2-41EB-A2F4-CAE9EF7F2D28}" type="sibTrans" cxnId="{AA2E87AA-4AC1-43C4-B591-5A6FE1C005A2}">
      <dgm:prSet/>
      <dgm:spPr/>
      <dgm:t>
        <a:bodyPr/>
        <a:lstStyle/>
        <a:p>
          <a:endParaRPr lang="en-US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7960BAF5-9734-46A0-9098-ADA1DCE188BA}">
      <dgm:prSet custT="1"/>
      <dgm:spPr/>
      <dgm:t>
        <a:bodyPr/>
        <a:lstStyle/>
        <a:p>
          <a:pPr algn="ctr"/>
          <a:r>
            <a:rPr lang="en-US" sz="1600" b="0" i="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Optimize cluster numbers for large datasets using </a:t>
          </a:r>
          <a:r>
            <a:rPr lang="en-US" sz="1600" b="0" i="0" dirty="0">
              <a:solidFill>
                <a:schemeClr val="accent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Particle Swarm Optimization (PSO).</a:t>
          </a:r>
          <a:endParaRPr lang="en-US" sz="1600" dirty="0">
            <a:solidFill>
              <a:schemeClr val="accent2"/>
            </a:solidFill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FEDFF33E-E2A5-4427-96EA-3E5299F5E54A}" type="parTrans" cxnId="{AA5703EC-CF73-4792-B020-0FD62F38DD05}">
      <dgm:prSet/>
      <dgm:spPr/>
      <dgm:t>
        <a:bodyPr/>
        <a:lstStyle/>
        <a:p>
          <a:endParaRPr lang="en-US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CD68D6CE-B034-4A9A-97CC-6CEF4B824FEB}" type="sibTrans" cxnId="{AA5703EC-CF73-4792-B020-0FD62F38DD05}">
      <dgm:prSet/>
      <dgm:spPr/>
      <dgm:t>
        <a:bodyPr/>
        <a:lstStyle/>
        <a:p>
          <a:endParaRPr lang="en-US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05D1A025-6AA5-47E1-BAD6-9E59F61ED75F}">
      <dgm:prSet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Experiment with other two-step clustering frameworks, including </a:t>
          </a:r>
        </a:p>
        <a:p>
          <a:pPr algn="ctr"/>
          <a:r>
            <a:rPr lang="en-US" sz="1600" dirty="0">
              <a:solidFill>
                <a:schemeClr val="accent5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K-means++ and Agglomerative Clustering</a:t>
          </a:r>
        </a:p>
      </dgm:t>
    </dgm:pt>
    <dgm:pt modelId="{59927451-CC88-49D6-B5DB-38095E174B78}" type="parTrans" cxnId="{885E23FE-74D7-42A3-B6A4-6ED899B88924}">
      <dgm:prSet/>
      <dgm:spPr/>
      <dgm:t>
        <a:bodyPr/>
        <a:lstStyle/>
        <a:p>
          <a:endParaRPr lang="en-US"/>
        </a:p>
      </dgm:t>
    </dgm:pt>
    <dgm:pt modelId="{6AB5A7E7-5C7E-4607-8837-792FE516C332}" type="sibTrans" cxnId="{885E23FE-74D7-42A3-B6A4-6ED899B88924}">
      <dgm:prSet/>
      <dgm:spPr/>
      <dgm:t>
        <a:bodyPr/>
        <a:lstStyle/>
        <a:p>
          <a:endParaRPr lang="en-US"/>
        </a:p>
      </dgm:t>
    </dgm:pt>
    <dgm:pt modelId="{0176A46C-F8A4-462D-9F31-2796BAB07DFF}" type="pres">
      <dgm:prSet presAssocID="{6616F670-BD0C-47D9-9D9B-F3EC163A8B29}" presName="linear" presStyleCnt="0">
        <dgm:presLayoutVars>
          <dgm:animLvl val="lvl"/>
          <dgm:resizeHandles val="exact"/>
        </dgm:presLayoutVars>
      </dgm:prSet>
      <dgm:spPr/>
    </dgm:pt>
    <dgm:pt modelId="{02CF1F81-F3EB-4D7B-A024-E280FDC24BB8}" type="pres">
      <dgm:prSet presAssocID="{1C9FD55C-A4B4-4500-9E26-27DFB87A50B7}" presName="parentText" presStyleLbl="node1" presStyleIdx="0" presStyleCnt="4" custLinFactY="-6719" custLinFactNeighborX="3556" custLinFactNeighborY="-100000">
        <dgm:presLayoutVars>
          <dgm:chMax val="0"/>
          <dgm:bulletEnabled val="1"/>
        </dgm:presLayoutVars>
      </dgm:prSet>
      <dgm:spPr/>
    </dgm:pt>
    <dgm:pt modelId="{D741E05C-3C07-4B0E-8326-1EA37BB67B1A}" type="pres">
      <dgm:prSet presAssocID="{B8FE51CD-28B5-4F23-9512-80B795FEC3CB}" presName="spacer" presStyleCnt="0"/>
      <dgm:spPr/>
    </dgm:pt>
    <dgm:pt modelId="{294D3872-C3AF-4473-89AB-0A52E620C286}" type="pres">
      <dgm:prSet presAssocID="{05D1A025-6AA5-47E1-BAD6-9E59F61ED75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3CEC39C-E4F3-48E5-BA7A-DA7832CDC73F}" type="pres">
      <dgm:prSet presAssocID="{6AB5A7E7-5C7E-4607-8837-792FE516C332}" presName="spacer" presStyleCnt="0"/>
      <dgm:spPr/>
    </dgm:pt>
    <dgm:pt modelId="{529995E3-232D-41D0-A8F1-758A49E196B8}" type="pres">
      <dgm:prSet presAssocID="{D6427639-2522-430E-98FC-7F0E797A862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7716337-3370-434B-84A9-FF1AD5AB65C0}" type="pres">
      <dgm:prSet presAssocID="{A2A85EBE-04D2-41EB-A2F4-CAE9EF7F2D28}" presName="spacer" presStyleCnt="0"/>
      <dgm:spPr/>
    </dgm:pt>
    <dgm:pt modelId="{BD56A0AF-4EA3-413C-B176-CB1941B57521}" type="pres">
      <dgm:prSet presAssocID="{7960BAF5-9734-46A0-9098-ADA1DCE188B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A538366-4799-4416-8EFF-3679F731BBD6}" type="presOf" srcId="{7960BAF5-9734-46A0-9098-ADA1DCE188BA}" destId="{BD56A0AF-4EA3-413C-B176-CB1941B57521}" srcOrd="0" destOrd="0" presId="urn:microsoft.com/office/officeart/2005/8/layout/vList2"/>
    <dgm:cxn modelId="{AA2AEE8E-7925-4F6C-BE3B-94B85BE10DE3}" type="presOf" srcId="{05D1A025-6AA5-47E1-BAD6-9E59F61ED75F}" destId="{294D3872-C3AF-4473-89AB-0A52E620C286}" srcOrd="0" destOrd="0" presId="urn:microsoft.com/office/officeart/2005/8/layout/vList2"/>
    <dgm:cxn modelId="{D21B179C-2A27-4A0A-A895-46D3987F5FA7}" type="presOf" srcId="{D6427639-2522-430E-98FC-7F0E797A862D}" destId="{529995E3-232D-41D0-A8F1-758A49E196B8}" srcOrd="0" destOrd="0" presId="urn:microsoft.com/office/officeart/2005/8/layout/vList2"/>
    <dgm:cxn modelId="{AA2E87AA-4AC1-43C4-B591-5A6FE1C005A2}" srcId="{6616F670-BD0C-47D9-9D9B-F3EC163A8B29}" destId="{D6427639-2522-430E-98FC-7F0E797A862D}" srcOrd="2" destOrd="0" parTransId="{A93EAED8-E2FD-4F46-848D-8C7FCCBE94F4}" sibTransId="{A2A85EBE-04D2-41EB-A2F4-CAE9EF7F2D28}"/>
    <dgm:cxn modelId="{BBA238B1-8A66-45FD-AE39-9EAA959A0099}" srcId="{6616F670-BD0C-47D9-9D9B-F3EC163A8B29}" destId="{1C9FD55C-A4B4-4500-9E26-27DFB87A50B7}" srcOrd="0" destOrd="0" parTransId="{C3D97FD7-BE86-421F-86AF-0686BFB05107}" sibTransId="{B8FE51CD-28B5-4F23-9512-80B795FEC3CB}"/>
    <dgm:cxn modelId="{D62920E5-9F7C-4839-BC14-AC1B2BFC12C2}" type="presOf" srcId="{6616F670-BD0C-47D9-9D9B-F3EC163A8B29}" destId="{0176A46C-F8A4-462D-9F31-2796BAB07DFF}" srcOrd="0" destOrd="0" presId="urn:microsoft.com/office/officeart/2005/8/layout/vList2"/>
    <dgm:cxn modelId="{2F9070E8-753E-437E-AE69-4413F0346958}" type="presOf" srcId="{1C9FD55C-A4B4-4500-9E26-27DFB87A50B7}" destId="{02CF1F81-F3EB-4D7B-A024-E280FDC24BB8}" srcOrd="0" destOrd="0" presId="urn:microsoft.com/office/officeart/2005/8/layout/vList2"/>
    <dgm:cxn modelId="{AA5703EC-CF73-4792-B020-0FD62F38DD05}" srcId="{6616F670-BD0C-47D9-9D9B-F3EC163A8B29}" destId="{7960BAF5-9734-46A0-9098-ADA1DCE188BA}" srcOrd="3" destOrd="0" parTransId="{FEDFF33E-E2A5-4427-96EA-3E5299F5E54A}" sibTransId="{CD68D6CE-B034-4A9A-97CC-6CEF4B824FEB}"/>
    <dgm:cxn modelId="{885E23FE-74D7-42A3-B6A4-6ED899B88924}" srcId="{6616F670-BD0C-47D9-9D9B-F3EC163A8B29}" destId="{05D1A025-6AA5-47E1-BAD6-9E59F61ED75F}" srcOrd="1" destOrd="0" parTransId="{59927451-CC88-49D6-B5DB-38095E174B78}" sibTransId="{6AB5A7E7-5C7E-4607-8837-792FE516C332}"/>
    <dgm:cxn modelId="{C511A9F0-30BF-4213-9B37-6C362DEF8B76}" type="presParOf" srcId="{0176A46C-F8A4-462D-9F31-2796BAB07DFF}" destId="{02CF1F81-F3EB-4D7B-A024-E280FDC24BB8}" srcOrd="0" destOrd="0" presId="urn:microsoft.com/office/officeart/2005/8/layout/vList2"/>
    <dgm:cxn modelId="{69451905-5424-416B-A217-6842E72ADAC2}" type="presParOf" srcId="{0176A46C-F8A4-462D-9F31-2796BAB07DFF}" destId="{D741E05C-3C07-4B0E-8326-1EA37BB67B1A}" srcOrd="1" destOrd="0" presId="urn:microsoft.com/office/officeart/2005/8/layout/vList2"/>
    <dgm:cxn modelId="{6BA33FCD-D5B6-462A-80C4-4787E9CDE73F}" type="presParOf" srcId="{0176A46C-F8A4-462D-9F31-2796BAB07DFF}" destId="{294D3872-C3AF-4473-89AB-0A52E620C286}" srcOrd="2" destOrd="0" presId="urn:microsoft.com/office/officeart/2005/8/layout/vList2"/>
    <dgm:cxn modelId="{02D5C11F-9034-4886-B2EA-30F61845F571}" type="presParOf" srcId="{0176A46C-F8A4-462D-9F31-2796BAB07DFF}" destId="{B3CEC39C-E4F3-48E5-BA7A-DA7832CDC73F}" srcOrd="3" destOrd="0" presId="urn:microsoft.com/office/officeart/2005/8/layout/vList2"/>
    <dgm:cxn modelId="{CBA14B7F-186F-4452-932B-014D8E0F0ECF}" type="presParOf" srcId="{0176A46C-F8A4-462D-9F31-2796BAB07DFF}" destId="{529995E3-232D-41D0-A8F1-758A49E196B8}" srcOrd="4" destOrd="0" presId="urn:microsoft.com/office/officeart/2005/8/layout/vList2"/>
    <dgm:cxn modelId="{5A1B3FF7-E60D-4B17-AEF5-CE7A8D409875}" type="presParOf" srcId="{0176A46C-F8A4-462D-9F31-2796BAB07DFF}" destId="{07716337-3370-434B-84A9-FF1AD5AB65C0}" srcOrd="5" destOrd="0" presId="urn:microsoft.com/office/officeart/2005/8/layout/vList2"/>
    <dgm:cxn modelId="{A782F6AA-307D-4A06-8887-4E131F9AEEC9}" type="presParOf" srcId="{0176A46C-F8A4-462D-9F31-2796BAB07DFF}" destId="{BD56A0AF-4EA3-413C-B176-CB1941B5752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CF1F81-F3EB-4D7B-A024-E280FDC24BB8}">
      <dsp:nvSpPr>
        <dsp:cNvPr id="0" name=""/>
        <dsp:cNvSpPr/>
      </dsp:nvSpPr>
      <dsp:spPr>
        <a:xfrm>
          <a:off x="0" y="0"/>
          <a:ext cx="10605105" cy="804960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Investigating combined effects of the socioeconomic features with </a:t>
          </a:r>
          <a:r>
            <a:rPr lang="en-US" sz="1600" b="0" i="0" kern="1200" dirty="0">
              <a:solidFill>
                <a:schemeClr val="accent5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Explainable Artificial Intelligence (XAI)  </a:t>
          </a:r>
          <a:endParaRPr lang="en-US" sz="1600" kern="1200" dirty="0">
            <a:solidFill>
              <a:schemeClr val="accent5"/>
            </a:solidFill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39295" y="39295"/>
        <a:ext cx="10526515" cy="726370"/>
      </dsp:txXfrm>
    </dsp:sp>
    <dsp:sp modelId="{294D3872-C3AF-4473-89AB-0A52E620C286}">
      <dsp:nvSpPr>
        <dsp:cNvPr id="0" name=""/>
        <dsp:cNvSpPr/>
      </dsp:nvSpPr>
      <dsp:spPr>
        <a:xfrm>
          <a:off x="0" y="932411"/>
          <a:ext cx="10605105" cy="80496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Experiment with other two-step clustering frameworks, including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5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K-means++ and Agglomerative Clustering</a:t>
          </a:r>
        </a:p>
      </dsp:txBody>
      <dsp:txXfrm>
        <a:off x="39295" y="971706"/>
        <a:ext cx="10526515" cy="726370"/>
      </dsp:txXfrm>
    </dsp:sp>
    <dsp:sp modelId="{529995E3-232D-41D0-A8F1-758A49E196B8}">
      <dsp:nvSpPr>
        <dsp:cNvPr id="0" name=""/>
        <dsp:cNvSpPr/>
      </dsp:nvSpPr>
      <dsp:spPr>
        <a:xfrm>
          <a:off x="0" y="1861211"/>
          <a:ext cx="10605105" cy="804960"/>
        </a:xfrm>
        <a:prstGeom prst="round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Including socioeconomic index such as </a:t>
          </a:r>
          <a:br>
            <a:rPr lang="en-US" sz="1600" b="0" i="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</a:br>
          <a:r>
            <a:rPr lang="en-US" sz="1600" b="0" i="0" kern="1200" dirty="0">
              <a:solidFill>
                <a:srgbClr val="FFFF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Different age groups, income levels, educational attainments  </a:t>
          </a:r>
          <a:endParaRPr lang="en-US" sz="1600" kern="1200" dirty="0">
            <a:solidFill>
              <a:srgbClr val="FFFF00"/>
            </a:solidFill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39295" y="1900506"/>
        <a:ext cx="10526515" cy="726370"/>
      </dsp:txXfrm>
    </dsp:sp>
    <dsp:sp modelId="{BD56A0AF-4EA3-413C-B176-CB1941B57521}">
      <dsp:nvSpPr>
        <dsp:cNvPr id="0" name=""/>
        <dsp:cNvSpPr/>
      </dsp:nvSpPr>
      <dsp:spPr>
        <a:xfrm>
          <a:off x="0" y="2790011"/>
          <a:ext cx="10605105" cy="804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Optimize cluster numbers for large datasets using </a:t>
          </a:r>
          <a:r>
            <a:rPr lang="en-US" sz="1600" b="0" i="0" kern="1200" dirty="0">
              <a:solidFill>
                <a:schemeClr val="accent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Particle Swarm Optimization (PSO).</a:t>
          </a:r>
          <a:endParaRPr lang="en-US" sz="1600" kern="1200" dirty="0">
            <a:solidFill>
              <a:schemeClr val="accent2"/>
            </a:solidFill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39295" y="2829306"/>
        <a:ext cx="10526515" cy="726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e9a3c157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1e9a3c157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" name="Google Shape;1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6" name="Google Shape;20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1e9a3c157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4" name="Google Shape;214;g31e9a3c157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" name="Google Shape;2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23eee2294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23eee2294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9" name="Google Shape;2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3" name="Google Shape;2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1" name="Google Shape;28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" name="Google Shape;2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3" name="Google Shape;3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0" name="Google Shape;3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6" name="Google Shape;3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240cb036b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240cb036b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8" name="Google Shape;32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5" name="Google Shape;33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2" name="Google Shape;34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9" name="Google Shape;34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6" name="Google Shape;3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2" name="Google Shape;3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240cb036b5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240cb036b5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7" name="Google Shape;3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3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3049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A hand writing on a white boar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r="6237"/>
          <a:stretch/>
        </p:blipFill>
        <p:spPr>
          <a:xfrm>
            <a:off x="6633029" y="1941343"/>
            <a:ext cx="5555369" cy="487509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6470"/>
                </a:srgbClr>
              </a:gs>
              <a:gs pos="35000">
                <a:srgbClr val="FFFFFF">
                  <a:alpha val="75686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05047" y="270914"/>
            <a:ext cx="11039302" cy="1275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Paving Equity: Unveiling Socioeconomic Patterns  in Pavement Conditions Using Data Mining</a:t>
            </a:r>
            <a:endParaRPr sz="3600" b="0" i="0" u="none" strike="noStrike" cap="none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34559" y="3832154"/>
            <a:ext cx="6148489" cy="148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sym typeface="Arial"/>
              </a:rPr>
              <a:t>Authors: </a:t>
            </a:r>
            <a:endParaRPr sz="1400" b="0" i="0" u="none" strike="noStrike" cap="none" dirty="0">
              <a:solidFill>
                <a:srgbClr val="000000"/>
              </a:solidFill>
              <a:latin typeface="Aptos Display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sym typeface="Arial"/>
              </a:rPr>
              <a:t>Tamim Adnan, Graduate Research Assistant, Dept. of Civil and Environmental Engineering, Michigan Technological University, Houghton, MI, USA, 49931</a:t>
            </a:r>
            <a:endParaRPr sz="1400" b="1" i="0" u="none" strike="noStrike" cap="none" dirty="0">
              <a:solidFill>
                <a:schemeClr val="dk1"/>
              </a:solidFill>
              <a:latin typeface="Aptos Display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sym typeface="Arial"/>
              </a:rPr>
              <a:t>Abdolmajid </a:t>
            </a:r>
            <a:r>
              <a:rPr lang="en-US" sz="1400" b="1" i="0" u="none" strike="noStrike" cap="none" dirty="0" err="1">
                <a:solidFill>
                  <a:schemeClr val="dk1"/>
                </a:solidFill>
                <a:latin typeface="Aptos Display" panose="020B0004020202020204" pitchFamily="34" charset="0"/>
                <a:sym typeface="Arial"/>
              </a:rPr>
              <a:t>Erfani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ptos Display" panose="020B0004020202020204" pitchFamily="34" charset="0"/>
                <a:sym typeface="Arial"/>
              </a:rPr>
              <a:t>, Assistant Professor, Dept. of Civil and Environmental Engineering, Michigan Technological University Houghton, MI, USA, 49931</a:t>
            </a:r>
            <a:endParaRPr sz="1400" b="0" i="0" u="none" strike="noStrike" cap="none" dirty="0">
              <a:solidFill>
                <a:srgbClr val="000000"/>
              </a:solidFill>
              <a:latin typeface="Aptos Display" panose="020B0004020202020204" pitchFamily="34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 Display" panose="020B0004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96EF8C-F6C8-4893-66E0-E4153D5A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01984"/>
            <a:ext cx="3668088" cy="739540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 of 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FBF91-3900-674A-0402-2383510DF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60" y="649480"/>
            <a:ext cx="4386960" cy="4575663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Research Problems and Gaps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Research Questions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Research Objectives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 Mining Methods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Related works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Research Methodology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Collection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Linear Correlation among the Features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Two-step Clustering Framework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Results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Notes on Inequitable Pavement Access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Future Works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817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/>
          <p:nvPr/>
        </p:nvSpPr>
        <p:spPr>
          <a:xfrm>
            <a:off x="0" y="-251582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9559988" y="0"/>
            <a:ext cx="2632012" cy="6858000"/>
          </a:xfrm>
          <a:custGeom>
            <a:avLst/>
            <a:gdLst/>
            <a:ahLst/>
            <a:cxnLst/>
            <a:rect l="l" t="t" r="r" b="b"/>
            <a:pathLst>
              <a:path w="2632012" h="6858000" extrusionOk="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410446" y="556758"/>
            <a:ext cx="10112411" cy="127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Social Equity in Data-driven Transportation Asset Management </a:t>
            </a:r>
            <a:endParaRPr sz="3600" b="0" i="0" u="none" strike="noStrike" cap="none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7322612" y="2150927"/>
            <a:ext cx="3764039" cy="2997744"/>
          </a:xfrm>
          <a:custGeom>
            <a:avLst/>
            <a:gdLst/>
            <a:ahLst/>
            <a:cxnLst/>
            <a:rect l="l" t="t" r="r" b="b"/>
            <a:pathLst>
              <a:path w="2400300" h="2400300" extrusionOk="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srgbClr val="000000">
                <a:alpha val="2549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9102788" y="5952857"/>
            <a:ext cx="1367625" cy="428984"/>
          </a:xfrm>
          <a:custGeom>
            <a:avLst/>
            <a:gdLst/>
            <a:ahLst/>
            <a:cxnLst/>
            <a:rect l="l" t="t" r="r" b="b"/>
            <a:pathLst>
              <a:path w="2201784" h="594531" extrusionOk="0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4862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407191" y="2407182"/>
            <a:ext cx="6584708" cy="2593219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Equity 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Fair distribution of resources, opportunities, and benefits.</a:t>
            </a: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Rawls's theory of justice: </a:t>
            </a:r>
          </a:p>
          <a:p>
            <a:pPr>
              <a:lnSpc>
                <a:spcPct val="90000"/>
              </a:lnSpc>
              <a:spcBef>
                <a:spcPts val="600"/>
              </a:spcBef>
              <a:buSzPts val="1800"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Fair distribution for underserved groups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Influencing Factors: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Income, race, education, urbanization, employment and more.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7449369" y="2204920"/>
            <a:ext cx="3568931" cy="299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Equity Action Plan (USDOT)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fair and impartial treatment, prioritizing historically underserved communities.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Analytics Advantage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Outperforms traditional metrics like variance, Gini index, and Theil’s entropy.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838200" y="556995"/>
            <a:ext cx="10515600" cy="113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Quality of Access in Pavement Conditions</a:t>
            </a:r>
            <a:endParaRPr sz="4000" b="1" i="0" u="none" strike="noStrike" cap="none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Arial"/>
            </a:endParaRPr>
          </a:p>
        </p:txBody>
      </p:sp>
      <p:grpSp>
        <p:nvGrpSpPr>
          <p:cNvPr id="125" name="Google Shape;125;p3"/>
          <p:cNvGrpSpPr/>
          <p:nvPr/>
        </p:nvGrpSpPr>
        <p:grpSpPr>
          <a:xfrm>
            <a:off x="348792" y="1826394"/>
            <a:ext cx="11005008" cy="4349799"/>
            <a:chOff x="0" y="769"/>
            <a:chExt cx="10515600" cy="4349799"/>
          </a:xfrm>
        </p:grpSpPr>
        <p:sp>
          <p:nvSpPr>
            <p:cNvPr id="126" name="Google Shape;126;p3"/>
            <p:cNvSpPr/>
            <p:nvPr/>
          </p:nvSpPr>
          <p:spPr>
            <a:xfrm>
              <a:off x="0" y="3275482"/>
              <a:ext cx="10515600" cy="1075086"/>
            </a:xfrm>
            <a:prstGeom prst="rect">
              <a:avLst/>
            </a:prstGeom>
            <a:solidFill>
              <a:srgbClr val="501549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"/>
            <p:cNvSpPr txBox="1"/>
            <p:nvPr/>
          </p:nvSpPr>
          <p:spPr>
            <a:xfrm>
              <a:off x="0" y="3275482"/>
              <a:ext cx="10515600" cy="10750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3575" tIns="163575" rIns="163575" bIns="163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Minorities facing transportation, housing, and language barriers experienced poorer road qualities (</a:t>
              </a:r>
              <a:r>
                <a:rPr lang="en-US" sz="2300" b="0" i="0" u="none" strike="noStrike" cap="none" dirty="0" err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Erfani</a:t>
              </a:r>
              <a:r>
                <a:rPr lang="en-US" sz="23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et al. 2024)</a:t>
              </a:r>
            </a:p>
          </p:txBody>
        </p:sp>
        <p:sp>
          <p:nvSpPr>
            <p:cNvPr id="128" name="Google Shape;128;p3"/>
            <p:cNvSpPr/>
            <p:nvPr/>
          </p:nvSpPr>
          <p:spPr>
            <a:xfrm rot="10800000">
              <a:off x="0" y="1638125"/>
              <a:ext cx="10515600" cy="165348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2501B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"/>
            <p:cNvSpPr txBox="1"/>
            <p:nvPr/>
          </p:nvSpPr>
          <p:spPr>
            <a:xfrm>
              <a:off x="0" y="1638125"/>
              <a:ext cx="10515600" cy="10743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3575" tIns="163575" rIns="163575" bIns="163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Significant disparities in Pavement Conditions between the advantaged and disadvantaged groups by household income variations (Towsend 2022)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 rot="10800000">
              <a:off x="0" y="769"/>
              <a:ext cx="10515600" cy="165348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3F3F3F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0" y="769"/>
              <a:ext cx="10515600" cy="10743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3575" tIns="163575" rIns="163575" bIns="163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n-US" sz="23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Higher Poverty Rates and Underserved Racial Groups Experienced disparities in Pavement Conditions. (U.S Government Accountability Office (GAO) Report, 2022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559988" y="0"/>
            <a:ext cx="2632012" cy="6858000"/>
          </a:xfrm>
          <a:custGeom>
            <a:avLst/>
            <a:gdLst/>
            <a:ahLst/>
            <a:cxnLst/>
            <a:rect l="l" t="t" r="r" b="b"/>
            <a:pathLst>
              <a:path w="2632012" h="6858000" extrusionOk="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137038" y="609598"/>
            <a:ext cx="9770022" cy="93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The Need for Quality Access in Good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Pavement Conditions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730496" y="2022496"/>
            <a:ext cx="3795039" cy="4043934"/>
          </a:xfrm>
          <a:custGeom>
            <a:avLst/>
            <a:gdLst/>
            <a:ahLst/>
            <a:cxnLst/>
            <a:rect l="l" t="t" r="r" b="b"/>
            <a:pathLst>
              <a:path w="2400300" h="2400300" extrusionOk="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srgbClr val="000000">
                <a:alpha val="2549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4" descr="Long shot of a roa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19067" r="21532" b="-2"/>
          <a:stretch/>
        </p:blipFill>
        <p:spPr>
          <a:xfrm>
            <a:off x="7971873" y="2183362"/>
            <a:ext cx="3321888" cy="373294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/>
          <p:nvPr/>
        </p:nvSpPr>
        <p:spPr>
          <a:xfrm>
            <a:off x="9102788" y="5952857"/>
            <a:ext cx="1367625" cy="428984"/>
          </a:xfrm>
          <a:custGeom>
            <a:avLst/>
            <a:gdLst/>
            <a:ahLst/>
            <a:cxnLst/>
            <a:rect l="l" t="t" r="r" b="b"/>
            <a:pathLst>
              <a:path w="2201784" h="594531" extrusionOk="0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4862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4"/>
          <p:cNvGrpSpPr/>
          <p:nvPr/>
        </p:nvGrpSpPr>
        <p:grpSpPr>
          <a:xfrm>
            <a:off x="177338" y="1842497"/>
            <a:ext cx="7321384" cy="4223933"/>
            <a:chOff x="0" y="13697"/>
            <a:chExt cx="7636626" cy="4645902"/>
          </a:xfrm>
        </p:grpSpPr>
        <p:sp>
          <p:nvSpPr>
            <p:cNvPr id="143" name="Google Shape;143;p4"/>
            <p:cNvSpPr/>
            <p:nvPr/>
          </p:nvSpPr>
          <p:spPr>
            <a:xfrm>
              <a:off x="0" y="13697"/>
              <a:ext cx="7636626" cy="823680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40209" y="53906"/>
              <a:ext cx="7556208" cy="7432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Fair Resource Allocation and Budget Constraints 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0" y="984719"/>
              <a:ext cx="7636626" cy="82368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40209" y="1024928"/>
              <a:ext cx="7556208" cy="7432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Equity-Focused Policies for Diverse Groups 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0" y="1935119"/>
              <a:ext cx="7636626" cy="82368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40209" y="1975328"/>
              <a:ext cx="7556208" cy="7432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 Analysis for Equitable Decisions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0" y="2885519"/>
              <a:ext cx="7636626" cy="82368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"/>
            <p:cNvSpPr txBox="1"/>
            <p:nvPr/>
          </p:nvSpPr>
          <p:spPr>
            <a:xfrm>
              <a:off x="40209" y="2925728"/>
              <a:ext cx="7556208" cy="7432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Natural Hazard Emergencies for underserved groups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0" y="3835919"/>
              <a:ext cx="7636626" cy="82368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40209" y="3876128"/>
              <a:ext cx="7556208" cy="7432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Safe Road Network Regardless of Socioeconomic Status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62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Google Shape;157;g31e9a3c1570_2_0"/>
          <p:cNvSpPr txBox="1"/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2800"/>
            </a:pPr>
            <a:r>
              <a:rPr lang="en-US" sz="4000" b="1" kern="12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 New Roman"/>
              </a:rPr>
              <a:t>R</a:t>
            </a:r>
            <a:r>
              <a:rPr lang="en-US" sz="4000" b="1" i="0" u="none" strike="noStrike" kern="1200" cap="none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 New Roman"/>
              </a:rPr>
              <a:t>esearch </a:t>
            </a:r>
            <a:r>
              <a:rPr lang="en-US" sz="4000" b="1" kern="12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 New Roman"/>
              </a:rPr>
              <a:t>P</a:t>
            </a:r>
            <a:r>
              <a:rPr lang="en-US" sz="4000" b="1" i="0" u="none" strike="noStrike" kern="1200" cap="none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 New Roman"/>
              </a:rPr>
              <a:t>roblems and Gaps 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Google Shape;158;g31e9a3c1570_2_0"/>
          <p:cNvSpPr txBox="1"/>
          <p:nvPr/>
        </p:nvSpPr>
        <p:spPr>
          <a:xfrm>
            <a:off x="566056" y="2508364"/>
            <a:ext cx="11379199" cy="286058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lvl="0"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Equitable Access Drivers</a:t>
            </a:r>
          </a:p>
          <a:p>
            <a:pPr lvl="0"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Traffic and climate influence pavement access, but the socio-economic impact remains unexplored.</a:t>
            </a:r>
          </a:p>
          <a:p>
            <a:pPr marL="0" lvl="0" indent="-228600"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 for Advanced Analysis</a:t>
            </a:r>
          </a:p>
          <a:p>
            <a:pPr lvl="0"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Data-driven methods, such as data mining, require broader applications for equity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800" b="0" i="0" u="none" strike="noStrike" cap="none" dirty="0">
                <a:solidFill>
                  <a:schemeClr val="l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Research Questions </a:t>
            </a:r>
            <a:endParaRPr sz="4800" b="0" i="0" u="none" strike="noStrike" cap="none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Arial"/>
            </a:endParaRPr>
          </a:p>
        </p:txBody>
      </p:sp>
      <p:grpSp>
        <p:nvGrpSpPr>
          <p:cNvPr id="164" name="Google Shape;164;p6"/>
          <p:cNvGrpSpPr/>
          <p:nvPr/>
        </p:nvGrpSpPr>
        <p:grpSpPr>
          <a:xfrm>
            <a:off x="295124" y="2277146"/>
            <a:ext cx="11601752" cy="3044758"/>
            <a:chOff x="0" y="0"/>
            <a:chExt cx="10515600" cy="5515810"/>
          </a:xfrm>
        </p:grpSpPr>
        <p:cxnSp>
          <p:nvCxnSpPr>
            <p:cNvPr id="165" name="Google Shape;165;p6"/>
            <p:cNvCxnSpPr/>
            <p:nvPr/>
          </p:nvCxnSpPr>
          <p:spPr>
            <a:xfrm>
              <a:off x="0" y="0"/>
              <a:ext cx="10515600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6" name="Google Shape;166;p6"/>
            <p:cNvSpPr/>
            <p:nvPr/>
          </p:nvSpPr>
          <p:spPr>
            <a:xfrm>
              <a:off x="0" y="0"/>
              <a:ext cx="10515600" cy="21756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DLaM Display"/>
                <a:ea typeface="ADLaM Display"/>
                <a:cs typeface="ADLaM Display"/>
                <a:sym typeface="ADLaM Display"/>
              </a:endParaRPr>
            </a:p>
          </p:txBody>
        </p:sp>
        <p:sp>
          <p:nvSpPr>
            <p:cNvPr id="167" name="Google Shape;167;p6"/>
            <p:cNvSpPr txBox="1"/>
            <p:nvPr/>
          </p:nvSpPr>
          <p:spPr>
            <a:xfrm>
              <a:off x="0" y="0"/>
              <a:ext cx="10515600" cy="21756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Times New Roman"/>
                <a:buNone/>
              </a:pPr>
              <a:r>
                <a:rPr lang="en-US" sz="2800" b="0" i="0" u="none" strike="noStrike" cap="none" dirty="0">
                  <a:solidFill>
                    <a:schemeClr val="lt1"/>
                  </a:solidFill>
                  <a:latin typeface="ADLaM Display"/>
                  <a:ea typeface="ADLaM Display"/>
                  <a:cs typeface="ADLaM Display"/>
                  <a:sym typeface="ADLaM Display"/>
                </a:rPr>
                <a:t>How does pavement quality vary across socioeconomic groups?</a:t>
              </a:r>
              <a:endParaRPr sz="2800" b="0" i="0" u="none" strike="noStrike" cap="none" dirty="0">
                <a:solidFill>
                  <a:srgbClr val="000000"/>
                </a:solidFill>
                <a:latin typeface="ADLaM Display"/>
                <a:ea typeface="ADLaM Display"/>
                <a:cs typeface="ADLaM Display"/>
                <a:sym typeface="ADLaM Display"/>
              </a:endParaRPr>
            </a:p>
          </p:txBody>
        </p:sp>
        <p:cxnSp>
          <p:nvCxnSpPr>
            <p:cNvPr id="168" name="Google Shape;168;p6"/>
            <p:cNvCxnSpPr/>
            <p:nvPr/>
          </p:nvCxnSpPr>
          <p:spPr>
            <a:xfrm>
              <a:off x="0" y="2175669"/>
              <a:ext cx="10515600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9" name="Google Shape;169;p6"/>
            <p:cNvSpPr/>
            <p:nvPr/>
          </p:nvSpPr>
          <p:spPr>
            <a:xfrm>
              <a:off x="0" y="2175669"/>
              <a:ext cx="10515600" cy="21756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DLaM Display"/>
                <a:ea typeface="ADLaM Display"/>
                <a:cs typeface="ADLaM Display"/>
                <a:sym typeface="ADLaM Display"/>
              </a:endParaRPr>
            </a:p>
          </p:txBody>
        </p:sp>
        <p:sp>
          <p:nvSpPr>
            <p:cNvPr id="170" name="Google Shape;170;p6"/>
            <p:cNvSpPr txBox="1"/>
            <p:nvPr/>
          </p:nvSpPr>
          <p:spPr>
            <a:xfrm>
              <a:off x="0" y="2175668"/>
              <a:ext cx="10515600" cy="3340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t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Times New Roman"/>
                <a:buNone/>
              </a:pPr>
              <a:r>
                <a:rPr lang="en-US" sz="2800" b="0" i="0" u="none" strike="noStrike" cap="none" dirty="0">
                  <a:solidFill>
                    <a:schemeClr val="lt1"/>
                  </a:solidFill>
                  <a:latin typeface="ADLaM Display"/>
                  <a:ea typeface="ADLaM Display"/>
                  <a:cs typeface="ADLaM Display"/>
                  <a:sym typeface="ADLaM Display"/>
                </a:rPr>
                <a:t>What can an advanced data mining reveal about pavement access patterns?</a:t>
              </a:r>
              <a:endParaRPr sz="2800" b="0" i="0" u="none" strike="noStrike" cap="none" dirty="0">
                <a:solidFill>
                  <a:srgbClr val="000000"/>
                </a:solidFill>
                <a:latin typeface="ADLaM Display"/>
                <a:ea typeface="ADLaM Display"/>
                <a:cs typeface="ADLaM Display"/>
                <a:sym typeface="ADLaM Display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3800962" y="81217"/>
            <a:ext cx="4883419" cy="650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Research Objectives </a:t>
            </a:r>
            <a:endParaRPr sz="3600" b="0" i="0" u="none" strike="noStrike" cap="none" dirty="0">
              <a:solidFill>
                <a:schemeClr val="dk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7"/>
          <p:cNvGrpSpPr/>
          <p:nvPr/>
        </p:nvGrpSpPr>
        <p:grpSpPr>
          <a:xfrm>
            <a:off x="780081" y="863217"/>
            <a:ext cx="9952087" cy="5503680"/>
            <a:chOff x="0" y="40969"/>
            <a:chExt cx="9952087" cy="5503680"/>
          </a:xfrm>
        </p:grpSpPr>
        <p:sp>
          <p:nvSpPr>
            <p:cNvPr id="179" name="Google Shape;179;p7"/>
            <p:cNvSpPr/>
            <p:nvPr/>
          </p:nvSpPr>
          <p:spPr>
            <a:xfrm>
              <a:off x="0" y="40969"/>
              <a:ext cx="9952087" cy="730080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7"/>
            <p:cNvSpPr txBox="1"/>
            <p:nvPr/>
          </p:nvSpPr>
          <p:spPr>
            <a:xfrm>
              <a:off x="35640" y="76609"/>
              <a:ext cx="9880807" cy="6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Evaluate Social Equity</a:t>
              </a:r>
              <a:endPara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0" y="771049"/>
              <a:ext cx="9952087" cy="645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 txBox="1"/>
            <p:nvPr/>
          </p:nvSpPr>
          <p:spPr>
            <a:xfrm>
              <a:off x="0" y="771049"/>
              <a:ext cx="9952087" cy="645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5975" tIns="25400" rIns="142225" bIns="254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Assess disparities in pavement quality across socio-economic groups.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0" y="1416889"/>
              <a:ext cx="9952087" cy="730080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"/>
            <p:cNvSpPr txBox="1"/>
            <p:nvPr/>
          </p:nvSpPr>
          <p:spPr>
            <a:xfrm>
              <a:off x="35640" y="1452529"/>
              <a:ext cx="9880807" cy="6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Apply Data Mining</a:t>
              </a:r>
              <a:endPara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0" y="2146969"/>
              <a:ext cx="9952087" cy="645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7"/>
            <p:cNvSpPr txBox="1"/>
            <p:nvPr/>
          </p:nvSpPr>
          <p:spPr>
            <a:xfrm>
              <a:off x="0" y="2146969"/>
              <a:ext cx="9952087" cy="645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5975" tIns="25400" rIns="142225" bIns="254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 advanced two-step clustering to analyze U.S. road data.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0" y="2792809"/>
              <a:ext cx="9952087" cy="730080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 txBox="1"/>
            <p:nvPr/>
          </p:nvSpPr>
          <p:spPr>
            <a:xfrm>
              <a:off x="35640" y="2828449"/>
              <a:ext cx="9880807" cy="6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Investigate Influential Factors</a:t>
              </a:r>
              <a:endPara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0" y="3522889"/>
              <a:ext cx="9952087" cy="645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7"/>
            <p:cNvSpPr txBox="1"/>
            <p:nvPr/>
          </p:nvSpPr>
          <p:spPr>
            <a:xfrm>
              <a:off x="0" y="3522889"/>
              <a:ext cx="9952087" cy="645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5975" tIns="25400" rIns="142225" bIns="254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Exploring the patterns of traffic, environmental conditions, and budgets on roads.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0" y="4168729"/>
              <a:ext cx="9952087" cy="730080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7"/>
            <p:cNvSpPr txBox="1"/>
            <p:nvPr/>
          </p:nvSpPr>
          <p:spPr>
            <a:xfrm>
              <a:off x="35640" y="4204369"/>
              <a:ext cx="9880807" cy="6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Inform Policy Decisions</a:t>
              </a:r>
              <a:endPara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0" y="4898809"/>
              <a:ext cx="9952087" cy="645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7"/>
            <p:cNvSpPr txBox="1"/>
            <p:nvPr/>
          </p:nvSpPr>
          <p:spPr>
            <a:xfrm>
              <a:off x="0" y="4898809"/>
              <a:ext cx="9952087" cy="645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15975" tIns="25400" rIns="142225" bIns="254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Offer insights to improve equity in pavement maintenance and funding.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2" name="Google Shape;202;p5"/>
          <p:cNvGraphicFramePr/>
          <p:nvPr>
            <p:extLst>
              <p:ext uri="{D42A27DB-BD31-4B8C-83A1-F6EECF244321}">
                <p14:modId xmlns:p14="http://schemas.microsoft.com/office/powerpoint/2010/main" val="3306955348"/>
              </p:ext>
            </p:extLst>
          </p:nvPr>
        </p:nvGraphicFramePr>
        <p:xfrm>
          <a:off x="1499165" y="1123527"/>
          <a:ext cx="9193700" cy="4604850"/>
        </p:xfrm>
        <a:graphic>
          <a:graphicData uri="http://schemas.openxmlformats.org/drawingml/2006/table">
            <a:tbl>
              <a:tblPr>
                <a:noFill/>
                <a:tableStyleId>{1FDE47B7-AA9A-41DE-BB12-4CB6514FBF18}</a:tableStyleId>
              </a:tblPr>
              <a:tblGrid>
                <a:gridCol w="171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3F3F3F"/>
                          </a:solidFill>
                        </a:rPr>
                        <a:t>Clustering Techniques	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3F3F3F"/>
                          </a:solidFill>
                        </a:rPr>
                        <a:t>Type / Clustering Groups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3F3F3F"/>
                          </a:solidFill>
                        </a:rPr>
                        <a:t>Advantages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3F3F3F"/>
                          </a:solidFill>
                        </a:rPr>
                        <a:t>Limitations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K-Means 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Unsupervised Machine Learning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Simple and efficient for large data sets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Sensitive to outliers and initial centroids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Limited to Continuous Data;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Unsuitable for Mixed Data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K-Means++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Unsupervised Machine Learning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Better initialization process reduces chances of poor clustering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Still sensitive to outliers and noise; Limited to Continuous Data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Agglomerative Clustering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3F3F3F"/>
                          </a:solidFill>
                        </a:rPr>
                        <a:t>Hierarchical Clustering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3F3F3F"/>
                          </a:solidFill>
                        </a:rPr>
                        <a:t>Unsupervised Machine Learning</a:t>
                      </a:r>
                      <a:endParaRPr sz="1400" u="none" strike="noStrike" cap="none" dirty="0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Reveal data hierarchy,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Good for variable cluster sizes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Computationally expensive, not suitable for large datasets;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Sensitive to Outliers;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Unsuitable for continuous and categorical data simultaneously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7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DBSCAN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3F3F3F"/>
                          </a:solidFill>
                        </a:rPr>
                        <a:t>Density-Based Spatial Clustering</a:t>
                      </a:r>
                      <a:endParaRPr sz="1400" u="none" strike="noStrike" cap="none" dirty="0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Does not require specification of number of clusters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Handles outliers well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Performance degrades with high-dimensional data;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Sensitive to parameter settings; Struggles with varying densities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7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Gaussian Mixture Models (GMMs)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Overlapping clusters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Soft clustering capabilities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Flexibility in cluster covariance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Requires expectation-maximization which can be slow;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Assumes normal distribution of components;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Sensitive to initialization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Self-Organizing Maps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Neural Networks / Grid-based clusters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Visual representation of high-dimensional data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3F3F3F"/>
                          </a:solidFill>
                        </a:rPr>
                        <a:t>Preserves topological properties</a:t>
                      </a:r>
                      <a:endParaRPr sz="1400" u="none" strike="noStrike" cap="none"/>
                    </a:p>
                  </a:txBody>
                  <a:tcPr marL="123025" marR="61500" marT="61525" marB="615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>
                          <a:solidFill>
                            <a:srgbClr val="3F3F3F"/>
                          </a:solidFill>
                        </a:rPr>
                        <a:t>Training can be slow, parameters like grid size can affect output; Computationally intensive; May not represent complex topologies well</a:t>
                      </a:r>
                      <a:endParaRPr sz="1400" u="none" strike="noStrike" cap="none" dirty="0"/>
                    </a:p>
                  </a:txBody>
                  <a:tcPr marL="123025" marR="61500" marT="61525" marB="615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3" name="Google Shape;203;p5"/>
          <p:cNvSpPr txBox="1"/>
          <p:nvPr/>
        </p:nvSpPr>
        <p:spPr>
          <a:xfrm>
            <a:off x="4263992" y="721895"/>
            <a:ext cx="379235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Arial"/>
              </a:rPr>
              <a:t>Data  Mining Methods </a:t>
            </a:r>
            <a:endParaRPr sz="2000" b="1" i="0" u="none" strike="noStrike" cap="none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0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0"/>
          <p:cNvSpPr/>
          <p:nvPr/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1" name="Google Shape;211;p40"/>
          <p:cNvGraphicFramePr/>
          <p:nvPr>
            <p:extLst>
              <p:ext uri="{D42A27DB-BD31-4B8C-83A1-F6EECF244321}">
                <p14:modId xmlns:p14="http://schemas.microsoft.com/office/powerpoint/2010/main" val="4155968834"/>
              </p:ext>
            </p:extLst>
          </p:nvPr>
        </p:nvGraphicFramePr>
        <p:xfrm>
          <a:off x="643466" y="747437"/>
          <a:ext cx="10905075" cy="4659360"/>
        </p:xfrm>
        <a:graphic>
          <a:graphicData uri="http://schemas.openxmlformats.org/drawingml/2006/table">
            <a:tbl>
              <a:tblPr>
                <a:noFill/>
                <a:tableStyleId>{1FDE47B7-AA9A-41DE-BB12-4CB6514FBF18}</a:tableStyleId>
              </a:tblPr>
              <a:tblGrid>
                <a:gridCol w="203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</a:rPr>
                        <a:t>Clustering Techniques	</a:t>
                      </a:r>
                      <a:endParaRPr sz="11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</a:rPr>
                        <a:t>Type / Clustering Groups</a:t>
                      </a:r>
                      <a:endParaRPr sz="11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</a:rPr>
                        <a:t>Advantages</a:t>
                      </a:r>
                      <a:endParaRPr sz="11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</a:rPr>
                        <a:t>Limitations</a:t>
                      </a:r>
                      <a:endParaRPr sz="11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Principal Component Analysis (PCA) with Clustering 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Dimensionality Reduction and Clustering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Reduces dimensionality maintaining as much variability as possible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Information loss,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Assumes linear correlations between features;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Deep Learning-based Clustering (Autoencoders)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Neural Networks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Can learn complex nonlinear transformations, Useful for dimensionality reduction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Requires large amounts of data and computing resources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Spectral Clustering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Graph-based Clustering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Effective in identifying clusters in non-Euclidean spaces,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Can handle complex structures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Computationally intensive for large dataset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Depends on graph structure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7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HDBSCAN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Hierarchical DBSCAN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100" u="none" strike="noStrike" cap="none" dirty="0">
                          <a:solidFill>
                            <a:srgbClr val="3F3F3F"/>
                          </a:solidFill>
                        </a:rPr>
                        <a:t>Unsupervised Machine Learning</a:t>
                      </a:r>
                      <a:endParaRPr lang="en-US" sz="18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Automatically determines the number of clusters,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Robust to noise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More complex than DBSCAN,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Higher computational cost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Computationally intensive for large datasets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7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Latent Dirichlet Allocation (LDA)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Topic Modeling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Good for discovering abstract topics in document collections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Requires pre-set number of topics,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Can be sensitive to model parameters;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Assumes document-topic distributions are sparse;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Requires selection of topics beforehand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4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t-SNE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Dimensionality Reduction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</a:rPr>
                        <a:t>Effective at creating visually interpretable maps of high-dimensional data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Computationally intensive; 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Sensitive to perplexity parameter; 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Not suitable for high-dimensional clustering directly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47650" marR="47650" marT="81575" marB="476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1e9a3c1570_0_2"/>
          <p:cNvSpPr/>
          <p:nvPr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1e9a3c1570_0_2"/>
          <p:cNvSpPr txBox="1"/>
          <p:nvPr/>
        </p:nvSpPr>
        <p:spPr>
          <a:xfrm>
            <a:off x="4335060" y="305119"/>
            <a:ext cx="3383857" cy="111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Arial"/>
              </a:rPr>
              <a:t>Related works </a:t>
            </a:r>
            <a:endParaRPr sz="3600" b="0" i="0" u="none" strike="noStrike" cap="none" dirty="0">
              <a:solidFill>
                <a:schemeClr val="dk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Arial"/>
            </a:endParaRPr>
          </a:p>
        </p:txBody>
      </p:sp>
      <p:graphicFrame>
        <p:nvGraphicFramePr>
          <p:cNvPr id="219" name="Google Shape;219;g31e9a3c1570_0_2"/>
          <p:cNvGraphicFramePr/>
          <p:nvPr>
            <p:extLst>
              <p:ext uri="{D42A27DB-BD31-4B8C-83A1-F6EECF244321}">
                <p14:modId xmlns:p14="http://schemas.microsoft.com/office/powerpoint/2010/main" val="1153481578"/>
              </p:ext>
            </p:extLst>
          </p:nvPr>
        </p:nvGraphicFramePr>
        <p:xfrm>
          <a:off x="599619" y="1425006"/>
          <a:ext cx="10668000" cy="3432975"/>
        </p:xfrm>
        <a:graphic>
          <a:graphicData uri="http://schemas.openxmlformats.org/drawingml/2006/table">
            <a:tbl>
              <a:tblPr>
                <a:solidFill>
                  <a:schemeClr val="lt1"/>
                </a:solidFill>
                <a:tableStyleId>{83C0DF57-0272-45ED-A551-4EA5B7DE391A}</a:tableStyleId>
              </a:tblPr>
              <a:tblGrid>
                <a:gridCol w="24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Study </a:t>
                      </a:r>
                      <a:endParaRPr/>
                    </a:p>
                  </a:txBody>
                  <a:tcPr marL="118075" marR="86200" marT="90825" marB="908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Key Focus</a:t>
                      </a:r>
                      <a:endParaRPr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Methods Used</a:t>
                      </a:r>
                      <a:endParaRPr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Seyedrezaei et al. (2023)</a:t>
                      </a:r>
                      <a:endParaRPr/>
                    </a:p>
                  </a:txBody>
                  <a:tcPr marL="118075" marR="86200" marT="90825" marB="908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Connection of social equity theories and equity in built-environments</a:t>
                      </a:r>
                      <a:endParaRPr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Systematic Review</a:t>
                      </a:r>
                      <a:endParaRPr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Townsend, C.E. (2022)</a:t>
                      </a:r>
                      <a:endParaRPr/>
                    </a:p>
                  </a:txBody>
                  <a:tcPr marL="118075" marR="86200" marT="90825" marB="908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Identifying pavement distress and its socioeconomic impacts</a:t>
                      </a:r>
                      <a:endParaRPr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Deep Learning (YOLO5)</a:t>
                      </a:r>
                      <a:endParaRPr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Radovic et al. (2017)</a:t>
                      </a:r>
                      <a:endParaRPr/>
                    </a:p>
                  </a:txBody>
                  <a:tcPr marL="118075" marR="86200" marT="90825" marB="908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Analysis of National Bridge Inventory</a:t>
                      </a:r>
                      <a:endParaRPr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accent3"/>
                          </a:solidFill>
                        </a:rPr>
                        <a:t>Two-Step Cluster Analysis</a:t>
                      </a:r>
                      <a:endParaRPr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Moscoso et al. (2024)</a:t>
                      </a:r>
                      <a:endParaRPr/>
                    </a:p>
                  </a:txBody>
                  <a:tcPr marL="118075" marR="86200" marT="90825" marB="908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Forecasting superstructure deterioration</a:t>
                      </a:r>
                      <a:endParaRPr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Markov Chains,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accent3"/>
                          </a:solidFill>
                        </a:rPr>
                        <a:t>Two-Step Cluster Analysis</a:t>
                      </a:r>
                      <a:endParaRPr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U.S. GAO (2022)</a:t>
                      </a:r>
                      <a:endParaRPr/>
                    </a:p>
                  </a:txBody>
                  <a:tcPr marL="118075" marR="86200" marT="90825" marB="908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Influence of poverty and racial disparities on pavement conditions</a:t>
                      </a:r>
                      <a:endParaRPr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Data Analysis</a:t>
                      </a:r>
                      <a:endParaRPr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chemeClr val="dk1"/>
                          </a:solidFill>
                        </a:rPr>
                        <a:t>Erfani</a:t>
                      </a:r>
                      <a:r>
                        <a:rPr lang="en-US" sz="1400" u="none" strike="noStrike" cap="none" dirty="0">
                          <a:solidFill>
                            <a:schemeClr val="dk1"/>
                          </a:solidFill>
                        </a:rPr>
                        <a:t> et al. (2024)</a:t>
                      </a:r>
                      <a:endParaRPr dirty="0"/>
                    </a:p>
                  </a:txBody>
                  <a:tcPr marL="118075" marR="86200" marT="90825" marB="908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Impact of socioeconomic factors on pavement performance</a:t>
                      </a:r>
                      <a:endParaRPr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dk1"/>
                          </a:solidFill>
                        </a:rPr>
                        <a:t>Regression, Statistical Correlation Analysis</a:t>
                      </a:r>
                      <a:endParaRPr dirty="0"/>
                    </a:p>
                  </a:txBody>
                  <a:tcPr marL="118075" marR="86200" marT="90825" marB="908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3847" y="1319680"/>
            <a:ext cx="5037257" cy="491532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 txBox="1"/>
          <p:nvPr/>
        </p:nvSpPr>
        <p:spPr>
          <a:xfrm>
            <a:off x="2593219" y="411239"/>
            <a:ext cx="682171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Research Methodology 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23eee22948_0_5"/>
          <p:cNvSpPr txBox="1"/>
          <p:nvPr/>
        </p:nvSpPr>
        <p:spPr>
          <a:xfrm>
            <a:off x="66392" y="1459245"/>
            <a:ext cx="6029608" cy="393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Highway Performance Monitoring Systems (HPMS):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HPMS database is a resource of 8,487,369 records  U.S nationwide for Pavement Performance.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resource for: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International Roughness Index (IRI),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Road type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Surface characteristics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thickness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Traffic volume, and geospatial locations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Including other pavement-related information. 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23eee22948_0_5"/>
          <p:cNvSpPr txBox="1"/>
          <p:nvPr/>
        </p:nvSpPr>
        <p:spPr>
          <a:xfrm>
            <a:off x="7613964" y="4716855"/>
            <a:ext cx="36847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HPMS Data Model Structure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g323eee22948_0_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3095" y="918703"/>
            <a:ext cx="5838905" cy="33443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8;p10">
            <a:extLst>
              <a:ext uri="{FF2B5EF4-FFF2-40B4-BE49-F238E27FC236}">
                <a16:creationId xmlns:a16="http://schemas.microsoft.com/office/drawing/2014/main" id="{EA5C7A14-4C80-D577-C06D-E49F6D9ECAA1}"/>
              </a:ext>
            </a:extLst>
          </p:cNvPr>
          <p:cNvSpPr txBox="1"/>
          <p:nvPr/>
        </p:nvSpPr>
        <p:spPr>
          <a:xfrm>
            <a:off x="66392" y="338850"/>
            <a:ext cx="525901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Data Collection 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 txBox="1"/>
          <p:nvPr/>
        </p:nvSpPr>
        <p:spPr>
          <a:xfrm>
            <a:off x="3459238" y="396724"/>
            <a:ext cx="525901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Data Collection 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9459369" y="3989567"/>
            <a:ext cx="20562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Two-Step Clustering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467764" y="1149791"/>
            <a:ext cx="11167856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NASA Modern-Era Retrospective Analysis for Research and Application version 2 (MEERA-2):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q"/>
            </a:pPr>
            <a:endParaRPr lang="en-US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q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 and temporal information at the county level were found here.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American Community Survey (ACS):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 algn="just">
              <a:buSzPts val="1800"/>
              <a:buFont typeface="Wingdings" panose="05000000000000000000" pitchFamily="2" charset="2"/>
              <a:buChar char="q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United States Census Bureau conducts ACS data on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 algn="just">
              <a:buSzPts val="1800"/>
              <a:buFont typeface="Wingdings" panose="05000000000000000000" pitchFamily="2" charset="2"/>
              <a:buChar char="q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income levels,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 algn="just">
              <a:buSzPts val="1800"/>
              <a:buFont typeface="Wingdings" panose="05000000000000000000" pitchFamily="2" charset="2"/>
              <a:buChar char="q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Educational attainments,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 algn="just">
              <a:buSzPts val="1800"/>
              <a:buFont typeface="Wingdings" panose="05000000000000000000" pitchFamily="2" charset="2"/>
              <a:buChar char="q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Employment rates,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 algn="just">
              <a:buSzPts val="1800"/>
              <a:buFont typeface="Wingdings" panose="05000000000000000000" pitchFamily="2" charset="2"/>
              <a:buChar char="q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Racial demographics,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 algn="just">
              <a:buSzPts val="1800"/>
              <a:buFont typeface="Wingdings" panose="05000000000000000000" pitchFamily="2" charset="2"/>
              <a:buChar char="q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Household compositions,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 algn="just">
              <a:buSzPts val="1800"/>
              <a:buFont typeface="Wingdings" panose="05000000000000000000" pitchFamily="2" charset="2"/>
              <a:buChar char="q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relevant information to provide detailed socioeconomic profiles of U.S. residents.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800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Provides ACS 1-year estimate and ACS 5-year estimate with more data points and minimal missing values.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41"/>
          <p:cNvPicPr preferRelativeResize="0"/>
          <p:nvPr/>
        </p:nvPicPr>
        <p:blipFill rotWithShape="1">
          <a:blip r:embed="rId3">
            <a:alphaModFix/>
          </a:blip>
          <a:srcRect l="7324"/>
          <a:stretch/>
        </p:blipFill>
        <p:spPr>
          <a:xfrm>
            <a:off x="20" y="10"/>
            <a:ext cx="7390243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41"/>
          <p:cNvSpPr/>
          <p:nvPr/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rgbClr val="E97132">
                  <a:alpha val="0"/>
                </a:srgbClr>
              </a:gs>
              <a:gs pos="100000">
                <a:srgbClr val="E97132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1"/>
          <p:cNvSpPr/>
          <p:nvPr/>
        </p:nvSpPr>
        <p:spPr>
          <a:xfrm rot="-5400000">
            <a:off x="-1919061" y="1919060"/>
            <a:ext cx="6854280" cy="3016159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rgbClr val="E97132">
                  <a:alpha val="0"/>
                </a:srgbClr>
              </a:gs>
              <a:gs pos="100000">
                <a:srgbClr val="E97132">
                  <a:alpha val="0"/>
                </a:srgbClr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1"/>
          <p:cNvSpPr/>
          <p:nvPr/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>
            <a:gsLst>
              <a:gs pos="0">
                <a:schemeClr val="accent2"/>
              </a:gs>
              <a:gs pos="51000">
                <a:srgbClr val="D86CCC">
                  <a:alpha val="0"/>
                </a:srgbClr>
              </a:gs>
              <a:gs pos="100000">
                <a:srgbClr val="D86CCC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1"/>
          <p:cNvSpPr txBox="1"/>
          <p:nvPr/>
        </p:nvSpPr>
        <p:spPr>
          <a:xfrm>
            <a:off x="7945224" y="3322747"/>
            <a:ext cx="3614717" cy="431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Correlation among the Features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1"/>
          <p:cNvSpPr txBox="1"/>
          <p:nvPr/>
        </p:nvSpPr>
        <p:spPr>
          <a:xfrm>
            <a:off x="7516800" y="5640650"/>
            <a:ext cx="4452648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Multiple variables showed collinearity above 0.8, only one</a:t>
            </a:r>
            <a:endParaRPr sz="1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variable was retained while the others were excluded,</a:t>
            </a:r>
            <a:endParaRPr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" name="Google Shape;255;p11"/>
          <p:cNvGraphicFramePr/>
          <p:nvPr>
            <p:extLst>
              <p:ext uri="{D42A27DB-BD31-4B8C-83A1-F6EECF244321}">
                <p14:modId xmlns:p14="http://schemas.microsoft.com/office/powerpoint/2010/main" val="299744170"/>
              </p:ext>
            </p:extLst>
          </p:nvPr>
        </p:nvGraphicFramePr>
        <p:xfrm>
          <a:off x="107149" y="46605"/>
          <a:ext cx="11880925" cy="6811395"/>
        </p:xfrm>
        <a:graphic>
          <a:graphicData uri="http://schemas.openxmlformats.org/drawingml/2006/table">
            <a:tbl>
              <a:tblPr firstRow="1" bandRow="1">
                <a:noFill/>
                <a:tableStyleId>{1A5AC634-E149-4D6B-A256-238546252162}</a:tableStyleId>
              </a:tblPr>
              <a:tblGrid>
                <a:gridCol w="1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6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7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 lang="en-US"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 Source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Pavement Condition Index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IRI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HPMS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International Roughness Index (IRI) ranges from 0 to 253, with larger values indicating poorer road conditions.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Urbanity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Urban Code Mode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HPMS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variable is categorical, where the code 9999 represents rural areas, 9998 represents small urban areas, and all other codes represent urban areas.</a:t>
                      </a:r>
                      <a:endParaRPr lang="en-US"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Traffic Data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AADT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HPMS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Annual Average Daily Traffic.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Environmental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Precipitation </a:t>
                      </a:r>
                      <a:endParaRPr lang="en-US"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MERRA-2</a:t>
                      </a:r>
                      <a:endParaRPr lang="en-US"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Water equivalent of annual surface precipitation (measured in millimeters).</a:t>
                      </a:r>
                      <a:endParaRPr lang="en-US"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Income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 Household Income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Income (dollars).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 Age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 age of population.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475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lang="en-US"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lang="en-US"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Employment </a:t>
                      </a:r>
                      <a:endParaRPr lang="en-US"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Population among the Age 16 years and over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population over age 16.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Employment Rate among the Age 16 Years and over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Employment Rate for Individuals Aged 16 and Older.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3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Unemployment Rate among the Age 16 Years and over</a:t>
                      </a:r>
                      <a:endParaRPr lang="en-US"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Unemployment Rate for Individuals Aged 16 and Older.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625">
                <a:tc row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lang="en-US"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lang="en-US"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Racial Backgrounds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White Alone ( Percentage)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Only White people population.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Black or African American Alone (Percentage)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Only Black or African American alone population.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Asian Alone (Percentage)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Only Asian alone population.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Some Other Race Alone (Percentage)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Only some other race alone population.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Disability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Civilian Population with Disability </a:t>
                      </a:r>
                      <a:endParaRPr lang="en-US"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ACS</a:t>
                      </a:r>
                      <a:endParaRPr lang="en-US"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Population with disability.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Education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 25+ Bachelor’s Degree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Population with age over 25 and bachelor’s degree above.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2875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lang="en-US"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Language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Speak only English among the Age 5 Years or over</a:t>
                      </a:r>
                      <a:endParaRPr lang="en-US"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Population percentage only speak English.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628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Speak a language other than English among the Age 5 Years or over. </a:t>
                      </a:r>
                      <a:endParaRPr lang="en-US"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Population percentage speak other than English.</a:t>
                      </a:r>
                      <a:endParaRPr lang="en-US"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"/>
          <p:cNvSpPr txBox="1"/>
          <p:nvPr/>
        </p:nvSpPr>
        <p:spPr>
          <a:xfrm>
            <a:off x="3409653" y="384350"/>
            <a:ext cx="643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Two-step Clustering Framework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4326001" y="1716201"/>
            <a:ext cx="3250532" cy="758585"/>
          </a:xfrm>
          <a:prstGeom prst="rect">
            <a:avLst/>
          </a:prstGeom>
          <a:noFill/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K-means Clustering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(First Step) 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4325997" y="2894872"/>
            <a:ext cx="3250536" cy="1008201"/>
          </a:xfrm>
          <a:prstGeom prst="rect">
            <a:avLst/>
          </a:prstGeom>
          <a:noFill/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or Agglomerative clustering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(Final Step)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12"/>
          <p:cNvCxnSpPr>
            <a:stCxn id="262" idx="2"/>
            <a:endCxn id="263" idx="0"/>
          </p:cNvCxnSpPr>
          <p:nvPr/>
        </p:nvCxnSpPr>
        <p:spPr>
          <a:xfrm>
            <a:off x="5951267" y="2474786"/>
            <a:ext cx="0" cy="42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5" name="Google Shape;265;p12"/>
          <p:cNvSpPr/>
          <p:nvPr/>
        </p:nvSpPr>
        <p:spPr>
          <a:xfrm>
            <a:off x="5023065" y="4323159"/>
            <a:ext cx="1856400" cy="479700"/>
          </a:xfrm>
          <a:prstGeom prst="rect">
            <a:avLst/>
          </a:prstGeom>
          <a:noFill/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Analysis 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12"/>
          <p:cNvCxnSpPr>
            <a:stCxn id="263" idx="2"/>
            <a:endCxn id="265" idx="0"/>
          </p:cNvCxnSpPr>
          <p:nvPr/>
        </p:nvCxnSpPr>
        <p:spPr>
          <a:xfrm>
            <a:off x="5951265" y="3903073"/>
            <a:ext cx="0" cy="42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7" name="Google Shape;267;p12"/>
          <p:cNvSpPr/>
          <p:nvPr/>
        </p:nvSpPr>
        <p:spPr>
          <a:xfrm>
            <a:off x="7862862" y="1479259"/>
            <a:ext cx="231993" cy="3526374"/>
          </a:xfrm>
          <a:prstGeom prst="rightBrace">
            <a:avLst>
              <a:gd name="adj1" fmla="val 8333"/>
              <a:gd name="adj2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9459369" y="3989567"/>
            <a:ext cx="20562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Two-Step Clustering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1291472" y="5792055"/>
            <a:ext cx="991052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IBM.(2024). “Two Step cluster node”. https://www.ibm.com/docs/en/cloud-paks/cp-data/4.8.x?topic=modeling-twostep-cluster-node,accessed 29th March 2024.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8215408" y="2971505"/>
            <a:ext cx="2487921" cy="541882"/>
          </a:xfrm>
          <a:prstGeom prst="rect">
            <a:avLst/>
          </a:prstGeom>
          <a:noFill/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Two-Step Clustering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 txBox="1"/>
          <p:nvPr/>
        </p:nvSpPr>
        <p:spPr>
          <a:xfrm>
            <a:off x="575310" y="1563879"/>
            <a:ext cx="5063490" cy="106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Pre-clusters </a:t>
            </a:r>
            <a:br>
              <a:rPr lang="en-US" sz="4000" b="0" i="0" u="none" strike="noStrike" cap="none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</a:br>
            <a:r>
              <a:rPr lang="en-US" sz="4000" b="0" i="0" u="none" strike="noStrike" cap="none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(K-Means Clustering) </a:t>
            </a:r>
            <a:endParaRPr sz="4000" b="0" i="0" u="none" strike="noStrike" cap="none">
              <a:solidFill>
                <a:schemeClr val="dk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Play"/>
            </a:endParaRPr>
          </a:p>
        </p:txBody>
      </p:sp>
      <p:pic>
        <p:nvPicPr>
          <p:cNvPr id="276" name="Google Shape;27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485" y="3229804"/>
            <a:ext cx="11873030" cy="345369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3"/>
          <p:cNvSpPr txBox="1"/>
          <p:nvPr/>
        </p:nvSpPr>
        <p:spPr>
          <a:xfrm>
            <a:off x="7298107" y="34282"/>
            <a:ext cx="3809503" cy="280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 K-Means Cluster Number Selection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8" name="Google Shape;278;p13"/>
          <p:cNvGraphicFramePr/>
          <p:nvPr/>
        </p:nvGraphicFramePr>
        <p:xfrm>
          <a:off x="7416109" y="406819"/>
          <a:ext cx="3573500" cy="2590900"/>
        </p:xfrm>
        <a:graphic>
          <a:graphicData uri="http://schemas.openxmlformats.org/drawingml/2006/table">
            <a:tbl>
              <a:tblPr firstRow="1" bandRow="1">
                <a:noFill/>
                <a:tableStyleId>{1A5AC634-E149-4D6B-A256-238546252162}</a:tableStyleId>
              </a:tblPr>
              <a:tblGrid>
                <a:gridCol w="126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Clusters 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Silhouette Score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Davies Bouldin Score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0.87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0.46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0.77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0.73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0.39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0. 46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0.56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0.51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0.56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0.55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0.47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0.55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0.45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0.49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2" y="0"/>
            <a:ext cx="5638798" cy="3307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417" y="3575713"/>
            <a:ext cx="5380526" cy="315632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 txBox="1"/>
          <p:nvPr/>
        </p:nvSpPr>
        <p:spPr>
          <a:xfrm>
            <a:off x="575310" y="1563879"/>
            <a:ext cx="5063490" cy="106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Pre-clusters </a:t>
            </a:r>
            <a:br>
              <a:rPr lang="en-US" sz="4000" b="0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</a:br>
            <a:r>
              <a:rPr lang="en-US" sz="4000" b="0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(K-Means Clustering) </a:t>
            </a:r>
            <a:endParaRPr sz="4000" b="0" i="0" u="none" strike="noStrike" cap="none" dirty="0">
              <a:solidFill>
                <a:schemeClr val="dk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Play"/>
            </a:endParaRPr>
          </a:p>
        </p:txBody>
      </p:sp>
      <p:pic>
        <p:nvPicPr>
          <p:cNvPr id="286" name="Google Shape;286;p14" descr="A chart with different colored lines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05397" y="3784392"/>
            <a:ext cx="6118225" cy="23861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202675"/>
            <a:ext cx="12192000" cy="3551237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5"/>
          <p:cNvSpPr txBox="1"/>
          <p:nvPr/>
        </p:nvSpPr>
        <p:spPr>
          <a:xfrm>
            <a:off x="575310" y="1563879"/>
            <a:ext cx="5063490" cy="106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Pre-clusters </a:t>
            </a:r>
            <a:br>
              <a:rPr lang="en-US" sz="4000" b="0" i="0" u="none" strike="noStrike" cap="none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</a:br>
            <a:r>
              <a:rPr lang="en-US" sz="4000" b="0" i="0" u="none" strike="noStrike" cap="none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(K-Means Clustering) </a:t>
            </a:r>
            <a:endParaRPr sz="4000" b="0" i="0" u="none" strike="noStrike" cap="none">
              <a:solidFill>
                <a:schemeClr val="dk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Pl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/>
        </p:nvSpPr>
        <p:spPr>
          <a:xfrm>
            <a:off x="1078895" y="232011"/>
            <a:ext cx="9775626" cy="57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 New Roman"/>
              </a:rPr>
              <a:t>Optimal Hierarchical Cluster Number Selection</a:t>
            </a:r>
            <a:endParaRPr sz="3200" b="0" i="0" u="none" strike="noStrike" cap="none" dirty="0">
              <a:solidFill>
                <a:schemeClr val="dk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imes New Roman"/>
            </a:endParaRPr>
          </a:p>
        </p:txBody>
      </p:sp>
      <p:pic>
        <p:nvPicPr>
          <p:cNvPr id="298" name="Google Shape;29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484" y="958649"/>
            <a:ext cx="6484705" cy="477219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6"/>
          <p:cNvSpPr txBox="1"/>
          <p:nvPr/>
        </p:nvSpPr>
        <p:spPr>
          <a:xfrm>
            <a:off x="7481951" y="2716040"/>
            <a:ext cx="4304639" cy="26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 Hierarchical Cluster Number Selection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0" name="Google Shape;300;p16"/>
          <p:cNvGraphicFramePr/>
          <p:nvPr/>
        </p:nvGraphicFramePr>
        <p:xfrm>
          <a:off x="6810847" y="3073983"/>
          <a:ext cx="5266625" cy="1600720"/>
        </p:xfrm>
        <a:graphic>
          <a:graphicData uri="http://schemas.openxmlformats.org/drawingml/2006/table">
            <a:tbl>
              <a:tblPr firstRow="1" bandRow="1">
                <a:noFill/>
                <a:tableStyleId>{1A5AC634-E149-4D6B-A256-238546252162}</a:tableStyleId>
              </a:tblPr>
              <a:tblGrid>
                <a:gridCol w="186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Clusters 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Silhouette Score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Davies Bouldin Score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0.67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0.49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0.57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0.57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0.56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0.56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/>
        </p:nvSpPr>
        <p:spPr>
          <a:xfrm>
            <a:off x="575310" y="1965533"/>
            <a:ext cx="3466851" cy="666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Final Clusters</a:t>
            </a:r>
            <a:endParaRPr sz="4000" b="0" i="0" u="none" strike="noStrike" cap="none">
              <a:solidFill>
                <a:schemeClr val="dk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Play"/>
            </a:endParaRPr>
          </a:p>
        </p:txBody>
      </p:sp>
      <p:pic>
        <p:nvPicPr>
          <p:cNvPr id="306" name="Google Shape;30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2692" y="525390"/>
            <a:ext cx="7756477" cy="24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36" y="3429000"/>
            <a:ext cx="11982733" cy="2780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19514"/>
            <a:ext cx="121920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8"/>
          <p:cNvSpPr txBox="1"/>
          <p:nvPr/>
        </p:nvSpPr>
        <p:spPr>
          <a:xfrm>
            <a:off x="4257100" y="721545"/>
            <a:ext cx="3466851" cy="666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Final Clusters</a:t>
            </a:r>
            <a:endParaRPr sz="4000" b="0" i="0" u="none" strike="noStrike" cap="none" dirty="0">
              <a:solidFill>
                <a:schemeClr val="dk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Play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7193" y="572259"/>
            <a:ext cx="6652294" cy="3103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81" y="3727646"/>
            <a:ext cx="6439438" cy="300674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9"/>
          <p:cNvSpPr txBox="1"/>
          <p:nvPr/>
        </p:nvSpPr>
        <p:spPr>
          <a:xfrm>
            <a:off x="575310" y="1965533"/>
            <a:ext cx="3466851" cy="666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Final Clusters</a:t>
            </a:r>
            <a:endParaRPr sz="4000" b="0" i="0" u="none" strike="noStrike" cap="none" dirty="0">
              <a:solidFill>
                <a:schemeClr val="dk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Pla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240cb036b5_0_16"/>
          <p:cNvSpPr txBox="1"/>
          <p:nvPr/>
        </p:nvSpPr>
        <p:spPr>
          <a:xfrm>
            <a:off x="0" y="67800"/>
            <a:ext cx="12192000" cy="619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 New Roman"/>
              </a:rPr>
              <a:t>Result: Pattern Analysis</a:t>
            </a:r>
            <a:endParaRPr sz="3200" b="1" dirty="0">
              <a:solidFill>
                <a:schemeClr val="dk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Quantile Grouping of IRI</a:t>
            </a: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points grouped into IRI quantiles (Q1-Q4) in Final Clusters for Decision-making. 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IRI  Quantile Scale:</a:t>
            </a:r>
            <a:endParaRPr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○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Q1: Good Condition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○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Q2: Acceptable Condition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○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Q3: Poor Condition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○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Q4: Poorer Condition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Standardization: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socio-economic features scaled (0-1) using Min-Max scaler for uniform comparison.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Averages by Quantile</a:t>
            </a:r>
            <a:endParaRPr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○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Calculated average values of socio-economic variables in each IRI quantile within four clusters.</a:t>
            </a:r>
            <a:endParaRPr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○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Correlations observed between worsening pavement quality (Q1 → Q4) and socio-economic disparities.</a:t>
            </a:r>
            <a:endParaRPr sz="2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"/>
          <p:cNvSpPr txBox="1"/>
          <p:nvPr/>
        </p:nvSpPr>
        <p:spPr>
          <a:xfrm>
            <a:off x="1452704" y="621944"/>
            <a:ext cx="9500235" cy="72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AADT, Relative Humidity and Precipitation on Pavement Quality</a:t>
            </a:r>
          </a:p>
        </p:txBody>
      </p:sp>
      <p:pic>
        <p:nvPicPr>
          <p:cNvPr id="331" name="Google Shape;33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5599" y="1648975"/>
            <a:ext cx="10913036" cy="379228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0"/>
          <p:cNvSpPr txBox="1"/>
          <p:nvPr/>
        </p:nvSpPr>
        <p:spPr>
          <a:xfrm>
            <a:off x="968896" y="5612412"/>
            <a:ext cx="10545263" cy="85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 New Roman"/>
              </a:rPr>
              <a:t>Declines in AADT, Relative Humidity, and Precipitation are associated with poor pavement quality</a:t>
            </a:r>
            <a:endParaRPr sz="2400" b="0" i="0" u="none" strike="noStrike" cap="none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410" y="861181"/>
            <a:ext cx="10779106" cy="4886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1"/>
          <p:cNvSpPr txBox="1"/>
          <p:nvPr/>
        </p:nvSpPr>
        <p:spPr>
          <a:xfrm>
            <a:off x="96762" y="5898498"/>
            <a:ext cx="12235543" cy="47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Arial"/>
              </a:rPr>
              <a:t>Poor pavement regions correlate with fewer White and more Minority residents</a:t>
            </a:r>
            <a:endParaRPr sz="2400" b="0" i="0" u="none" strike="noStrike" cap="none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74513-5A0A-79C3-98B2-22A2176005B3}"/>
              </a:ext>
            </a:extLst>
          </p:cNvPr>
          <p:cNvSpPr txBox="1"/>
          <p:nvPr/>
        </p:nvSpPr>
        <p:spPr>
          <a:xfrm>
            <a:off x="3664773" y="227901"/>
            <a:ext cx="475584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RACE on Pavement Quality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 txBox="1"/>
          <p:nvPr/>
        </p:nvSpPr>
        <p:spPr>
          <a:xfrm>
            <a:off x="1717566" y="5603874"/>
            <a:ext cx="8969323" cy="125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 New Roman"/>
              </a:rPr>
              <a:t>A decrease in median age as pavement quality declines </a:t>
            </a:r>
            <a:endParaRPr sz="2400" b="0" i="0" u="none" strike="noStrike" cap="none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 New Roman"/>
              </a:rPr>
              <a:t>Unemployment rate increases as pavement quality declines</a:t>
            </a:r>
            <a:endParaRPr sz="2400" b="0" i="0" u="none" strike="noStrike" cap="none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 New Roman"/>
              </a:rPr>
              <a:t>Education attainments are lower in the  pavement regions </a:t>
            </a:r>
            <a:endParaRPr sz="2400" b="0" i="0" u="none" strike="noStrike" cap="none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Arial"/>
            </a:endParaRPr>
          </a:p>
        </p:txBody>
      </p:sp>
      <p:pic>
        <p:nvPicPr>
          <p:cNvPr id="346" name="Google Shape;34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549" y="1257905"/>
            <a:ext cx="10936901" cy="41268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E8D4B2-9D88-8097-38A2-790322F362B0}"/>
              </a:ext>
            </a:extLst>
          </p:cNvPr>
          <p:cNvSpPr txBox="1"/>
          <p:nvPr/>
        </p:nvSpPr>
        <p:spPr>
          <a:xfrm>
            <a:off x="517906" y="357047"/>
            <a:ext cx="11156185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Age, Employment and Education on Pavement Quality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"/>
          <p:cNvSpPr txBox="1"/>
          <p:nvPr/>
        </p:nvSpPr>
        <p:spPr>
          <a:xfrm>
            <a:off x="1630439" y="441426"/>
            <a:ext cx="9164768" cy="49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Income, Language a</a:t>
            </a:r>
            <a:r>
              <a:rPr lang="en-US" sz="2800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nd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Play"/>
              </a:rPr>
              <a:t>Disability on Pavement Quality</a:t>
            </a:r>
            <a:endParaRPr sz="2800" b="0" i="0" u="none" strike="noStrike" cap="none" dirty="0">
              <a:solidFill>
                <a:schemeClr val="dk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Play"/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938591" y="5446657"/>
            <a:ext cx="10624457" cy="10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921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lang="en-US" sz="2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income in Clusters 1 and 4 links to better pavement quality</a:t>
            </a:r>
          </a:p>
          <a:p>
            <a:pPr marL="285750" indent="-292100">
              <a:lnSpc>
                <a:spcPct val="80000"/>
              </a:lnSpc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Non-English speakers increase, and English-only speakers decrease  as pavement quality decreases</a:t>
            </a:r>
            <a:endParaRPr lang="en-US" sz="20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921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lang="en-US" sz="20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pavement quality is linked to increased disability rates</a:t>
            </a:r>
            <a:endParaRPr sz="20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3" name="Google Shape;3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743" y="1127276"/>
            <a:ext cx="11671906" cy="4417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ctangle 38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Google Shape;358;p24"/>
          <p:cNvSpPr txBox="1"/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3600"/>
            </a:pPr>
            <a:r>
              <a:rPr lang="en-US" sz="3400" b="1" i="0" u="none" strike="noStrike" kern="1200" cap="none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imes New Roman"/>
              </a:rPr>
              <a:t>Key Notes on Inequitable Pavement Access</a:t>
            </a: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B3D29-6C54-322C-8ABC-245542C6C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534" y="2217343"/>
            <a:ext cx="12070456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Two-step Cluster Analysis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reveals distinct socio-economic patterns in pavement quality.</a:t>
            </a:r>
          </a:p>
          <a:p>
            <a:pPr marL="342900" lvl="1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K-means clustering methods are </a:t>
            </a:r>
            <a:r>
              <a:rPr lang="en-US" altLang="en-US" sz="2000" kern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useful to initialize the pre-clusters from raw data</a:t>
            </a:r>
            <a:r>
              <a:rPr lang="en-US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Agglomerative clusters are </a:t>
            </a:r>
            <a:r>
              <a:rPr lang="en-US" altLang="en-US" sz="20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computationally sensitive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Poorer pavement regions show:</a:t>
            </a:r>
          </a:p>
          <a:p>
            <a:pPr marL="400050" lvl="3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 racial composition changes.</a:t>
            </a:r>
          </a:p>
          <a:p>
            <a:pPr marL="400050" lvl="1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 language barriers (non-English speakers).</a:t>
            </a:r>
          </a:p>
          <a:p>
            <a:pPr marL="400050" lvl="1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disability concentrations.</a:t>
            </a:r>
          </a:p>
          <a:p>
            <a:pPr marL="400050" lvl="1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Educational attainment and employment rates influence pavement accessibility.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0"/>
          <p:cNvSpPr/>
          <p:nvPr/>
        </p:nvSpPr>
        <p:spPr>
          <a:xfrm>
            <a:off x="0" y="1062595"/>
            <a:ext cx="12188952" cy="59629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0"/>
          <p:cNvSpPr txBox="1"/>
          <p:nvPr/>
        </p:nvSpPr>
        <p:spPr>
          <a:xfrm>
            <a:off x="4325257" y="395225"/>
            <a:ext cx="4099452" cy="66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Arial"/>
              </a:rPr>
              <a:t>Future Works 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369" name="Google Shape;367;p30">
            <a:extLst>
              <a:ext uri="{FF2B5EF4-FFF2-40B4-BE49-F238E27FC236}">
                <a16:creationId xmlns:a16="http://schemas.microsoft.com/office/drawing/2014/main" id="{37D4977B-AC9E-7413-9213-CEFE585894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4158032"/>
              </p:ext>
            </p:extLst>
          </p:nvPr>
        </p:nvGraphicFramePr>
        <p:xfrm>
          <a:off x="791923" y="1729965"/>
          <a:ext cx="10605105" cy="35985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240cb036b5_0_4"/>
          <p:cNvSpPr txBox="1"/>
          <p:nvPr/>
        </p:nvSpPr>
        <p:spPr>
          <a:xfrm>
            <a:off x="379800" y="1257825"/>
            <a:ext cx="11812200" cy="51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Seyedrezaei, M., B. Becerik-Gerber, M. Awada, S. Contreras, and G. Boeing. (2023). "Equity in the built environment: A systematic review." Building and Environment 110827”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Townsend, C. E. (2022). Leveraging AI to assess inequities in pavement maintenance and rehabilitation strategies. Master’s Thesis, Department of Civil Engineering, University of Missouri-Columbia,https://mospace.umsystem.edu/xmlui/handle/10355/95170 , accessed 30th March 2024. 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Radovic, M., O. Ghonima, and T. Schumacher. (2017). Data mining of bridge concrete deck parameters in the national bridge inventory by two-step cluster analysis. ASCE-ASME Journal of Risk and Uncertainty in Engineering Systems, Part A: Civil Engineering 3(2), F4016004.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Moscoso, Y. F., Rincón, L. F., Leiva-Maldonado, S. L., &amp; ASC Campos e Matos, J. (2024). Bridge deterioration models for different superstructure types using Markov chains and two-step cluster analysis. Structure and Infrastructure Engineering, 20(6), 791-801. 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U. S. Government Accountability Office (GAO). (2022). National Highways: Analysis of Available Data Could Better Ensure Equitable Pavement Condition. GAO-22-104578 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Erfani, A., J. Mahmoudi, &amp; Q. Cui. (2024). Measuring Social Equity in Pavement Conditions Using Big Data. In Construction Research Congress 2024 pp. 23-32.</a:t>
            </a:r>
            <a:endParaRPr sz="1600"/>
          </a:p>
        </p:txBody>
      </p:sp>
      <p:sp>
        <p:nvSpPr>
          <p:cNvPr id="374" name="Google Shape;374;g3240cb036b5_0_4"/>
          <p:cNvSpPr txBox="1"/>
          <p:nvPr/>
        </p:nvSpPr>
        <p:spPr>
          <a:xfrm>
            <a:off x="4785900" y="4128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References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5"/>
          <p:cNvSpPr txBox="1"/>
          <p:nvPr/>
        </p:nvSpPr>
        <p:spPr>
          <a:xfrm>
            <a:off x="2353901" y="2643611"/>
            <a:ext cx="694400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Arial"/>
              </a:rPr>
              <a:t>Question and Answering </a:t>
            </a:r>
            <a:endParaRPr sz="1400" b="0" i="0" u="none" strike="noStrike" cap="none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2"/>
          <p:cNvSpPr txBox="1"/>
          <p:nvPr/>
        </p:nvSpPr>
        <p:spPr>
          <a:xfrm>
            <a:off x="2082297" y="1883120"/>
            <a:ext cx="694400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Arial"/>
              </a:rPr>
              <a:t>Thank you</a:t>
            </a:r>
            <a:endParaRPr sz="1400" b="0" i="0" u="none" strike="noStrike" cap="none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2116</Words>
  <Application>Microsoft Office PowerPoint</Application>
  <PresentationFormat>Widescreen</PresentationFormat>
  <Paragraphs>389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Play</vt:lpstr>
      <vt:lpstr>Wingdings</vt:lpstr>
      <vt:lpstr>Times New Roman</vt:lpstr>
      <vt:lpstr>ADLaM Display</vt:lpstr>
      <vt:lpstr>Aptos Display</vt:lpstr>
      <vt:lpstr>Noto Sans Symbols</vt:lpstr>
      <vt:lpstr>Office Theme</vt:lpstr>
      <vt:lpstr>Office Theme</vt:lpstr>
      <vt:lpstr>PowerPoint Presentation</vt:lpstr>
      <vt:lpstr>List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tadnan</dc:creator>
  <cp:lastModifiedBy>tadnan</cp:lastModifiedBy>
  <cp:revision>53</cp:revision>
  <dcterms:created xsi:type="dcterms:W3CDTF">2024-12-02T17:06:03Z</dcterms:created>
  <dcterms:modified xsi:type="dcterms:W3CDTF">2024-12-16T11:48:31Z</dcterms:modified>
</cp:coreProperties>
</file>